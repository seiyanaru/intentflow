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74" r:id="rId6"/>
    <p:sldId id="260" r:id="rId7"/>
    <p:sldId id="261" r:id="rId8"/>
    <p:sldId id="262" r:id="rId9"/>
    <p:sldId id="264" r:id="rId10"/>
    <p:sldId id="267" r:id="rId11"/>
    <p:sldId id="270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78"/>
  </p:normalViewPr>
  <p:slideViewPr>
    <p:cSldViewPr snapToGrid="0" snapToObjects="1">
      <p:cViewPr varScale="1">
        <p:scale>
          <a:sx n="147" d="100"/>
          <a:sy n="147" d="100"/>
        </p:scale>
        <p:origin x="22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687D6-B106-9D41-867E-50EBFD67D051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481E9-9854-BB4E-8CF5-577959B5FF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6927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［30s］脳波から右手か左手かを読み取るのがBCIです。やっかいなのは、同じ人でも日が変わると脳波が変わること。前の日の判定器が次の日には当たりにくい。これに頑健にするのが目標です。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Yu Gothic"/>
                <a:ea typeface="Yu Gothic"/>
                <a:cs typeface="Yu Gothic"/>
              </a:rPr>
              <a:t>OTTA は drift に追従する手段として有望だが、高信頼な誤分類を使って更新するとモデル状態が汚染される。したがって、単純な pmax gate では不十分である。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Yu Gothic"/>
                <a:ea typeface="Yu Gothic"/>
                <a:cs typeface="Yu Gothic"/>
              </a:rPr>
              <a:t>5</a:t>
            </a:fld>
            <a:endParaRPr lang="en-US"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［35s］前回は、一律に適応すると弱い脳波で誤るので、先にフィルタで弱信号を弾いてから適応する2段構えを提案しました。フィルタは「分かれ具合」で正解なしに信頼度を測るもので、小規模では相関0.78と良かった。ただし新規性を立てるには「既存指標より当たる」「軽量」の2条件を確認する必要がある、と宿題を残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［30s］今回は宿題を実データで確かめます。被験者を9人から62人の縦断データに増やし、校正用データと評価を厳密に分けた公平な土俵で、フィルタが本当に効くかを検証しました。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［40s］まず適応の現実です。平均では+7.8ppと確かに上がり、4分の3のセッションで改善します。ただ16%が悪化し、最悪は−12pp。ここで重要なのは、常に適応するだけで平均は上限の93%に届くこと。つまり平均はほぼ解けていて、残る問題は「壊れる16%をどう防ぐか」という安全性に絞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［40s］二つ目。前回の核だった正解なしのフィルタを、62人で公平に評価しました。前回0.78だった分かれ具合も、ここでは判別力0.61。6つの指標を融合しても0.66で、実用に欲しい水準に届きません。前回の良い相関は小規模・極端な条件に依存していた、というのが正直なとこ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F113-F7C0-F417-1C34-46E77F346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52CE3-0145-CC20-A5C7-C4DF57C3E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A711C-8EEB-B454-183F-BE8D1D714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［40s］今後は、決定の単位をセッションから被験者に移します。被験者の過去の傾向から「この人に適応が向くか」を見分け、向かない少数の人だけ手を引く。それでも残る予測不能なぶれは、適応を弱めて壊れの上限を抑える。前回の2段構えを、被験者単位の判定に作り替えるイメージです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80577-6010-5D6F-82E4-42621DDE8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63367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RM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20040" cy="164592"/>
          </a:xfrm>
          <a:prstGeom prst="rect">
            <a:avLst/>
          </a:prstGeom>
          <a:extLst>
            <a:ext uri="{C572A759-6A51-4108-AA02-DFA0A04FC94B}">
              <ns2:wrappingTextBoxFlag xmlns:ns2="http://schemas.microsoft.com/office/mac/drawingml/2011/main" xmlns:a16="http://schemas.microsoft.com/office/drawing/2014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Yu Gothic"/>
                <a:ea typeface="Yu Gothic"/>
                <a:cs typeface="Yu Gothic"/>
              </a:rPr>
              <a:t>‹#›</a:t>
            </a:fld>
            <a:endParaRPr lang="en-US">
              <a:latin typeface="Yu Gothic"/>
              <a:ea typeface="Yu Gothic"/>
              <a:cs typeface="Yu Gothic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4E2056A4-573D-D637-10A7-881BFEA170FC}"/>
              </a:ext>
            </a:extLst>
          </p:cNvPr>
          <p:cNvSpPr/>
          <p:nvPr userDrawn="1"/>
        </p:nvSpPr>
        <p:spPr>
          <a:xfrm>
            <a:off x="477080" y="765312"/>
            <a:ext cx="11094415" cy="0"/>
          </a:xfrm>
          <a:prstGeom prst="line">
            <a:avLst/>
          </a:prstGeom>
          <a:noFill/>
          <a:ln w="25400">
            <a:solidFill>
              <a:srgbClr val="0B1F3B"/>
            </a:solidFill>
            <a:prstDash val="solid"/>
          </a:ln>
        </p:spPr>
        <p:txBody>
          <a:bodyPr/>
          <a:lstStyle/>
          <a:p>
            <a:endParaRPr sz="1800">
              <a:latin typeface="Yu Gothic"/>
              <a:ea typeface="Yu Gothic"/>
              <a:cs typeface="Yu Gothic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A6B2AAE-B382-FD3C-C2B4-625287096AAF}"/>
              </a:ext>
            </a:extLst>
          </p:cNvPr>
          <p:cNvSpPr txBox="1"/>
          <p:nvPr userDrawn="1"/>
        </p:nvSpPr>
        <p:spPr>
          <a:xfrm>
            <a:off x="477080" y="166977"/>
            <a:ext cx="4770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404083798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783080"/>
            <a:ext cx="11185855" cy="9144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第五回 班ゼミ</a:t>
            </a:r>
          </a:p>
        </p:txBody>
      </p:sp>
      <p:sp>
        <p:nvSpPr>
          <p:cNvPr id="3" name="Rectangle 2"/>
          <p:cNvSpPr/>
          <p:nvPr/>
        </p:nvSpPr>
        <p:spPr>
          <a:xfrm>
            <a:off x="3535527" y="2889504"/>
            <a:ext cx="5120640" cy="2377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054096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77"/>
                </a:solidFill>
                <a:latin typeface="Yu Gothic"/>
                <a:ea typeface="Yu Gothic"/>
                <a:cs typeface="Yu Gothic"/>
              </a:rPr>
              <a:t>適応の安全性検証 ― 前回フィルタを 62 人の縦断データで確かめる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0"/>
            <a:ext cx="1118585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2026年6月22日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史研究室 修士2年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生川 聖也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77"/>
                </a:solidFill>
                <a:latin typeface="Yu Gothic"/>
                <a:ea typeface="Yu Gothic"/>
                <a:cs typeface="Yu Gothic"/>
              </a:rPr>
              <a:t>発表時間：約10分（前回 6/8 以降の進捗）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アウトライン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85855" cy="201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2648" y="1920240"/>
            <a:ext cx="3657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920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920240"/>
            <a:ext cx="6537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背景・前回の振り返り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2761488"/>
            <a:ext cx="3657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7614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804105"/>
            <a:ext cx="6537960" cy="2805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7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前回フィルタを他のデータで検証する</a:t>
            </a:r>
            <a:endParaRPr sz="1700" b="1" i="0" dirty="0">
              <a:solidFill>
                <a:srgbClr val="1F3A5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2648" y="3602736"/>
            <a:ext cx="3657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360273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645353"/>
            <a:ext cx="6537960" cy="2805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ja-JP" altLang="en-US" sz="17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今後の方針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6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743200"/>
            <a:ext cx="1045433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1. </a:t>
            </a:r>
            <a:r>
              <a:rPr sz="2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背景・前回の振り返り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419856"/>
            <a:ext cx="10454335" cy="2194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486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背景：EEG-MI は session が変わると分類性能が低下する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85855" cy="201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8585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同じ人でも日が変わると脳波が変わり、前に作ったモデルが当たらなくなる。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44348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■  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BCI＝脳波から「右手／左手などの想像」の意図を読み取る技術。</a:t>
            </a:r>
          </a:p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■  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同じ被験者でも別の日（session）には EEG 特徴の分布が変わる（session drift）。</a:t>
            </a:r>
          </a:p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■  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別日にそのまま使うと精度が落ちる → 日ごとのズレに頑健な仕組みが必要。</a:t>
            </a:r>
          </a:p>
        </p:txBody>
      </p:sp>
      <p:pic>
        <p:nvPicPr>
          <p:cNvPr id="6" name="Picture 5" descr="prev_session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969994"/>
            <a:ext cx="6400800" cy="36038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57800" y="5665245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77"/>
                </a:solidFill>
                <a:latin typeface="Yu Gothic"/>
                <a:ea typeface="Yu Gothic"/>
                <a:cs typeface="Yu Gothic"/>
              </a:rPr>
              <a:t>session間のEEG特徴分布ずれ（前回スライドより再掲）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9189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ja-JP" altLang="en-US" sz="2800" b="1">
                <a:latin typeface="Yu Gothic" panose="020B0400000000000000" pitchFamily="34" charset="-128"/>
                <a:ea typeface="Yu Gothic" panose="020B0400000000000000" pitchFamily="34" charset="-128"/>
                <a:cs typeface="Yu Gothic"/>
              </a:rPr>
              <a:t>問題：</a:t>
            </a:r>
            <a:r>
              <a:rPr lang="en-US" altLang="ja-JP" sz="2800" b="1" dirty="0">
                <a:latin typeface="Yu Gothic" panose="020B0400000000000000" pitchFamily="34" charset="-128"/>
                <a:ea typeface="Yu Gothic" panose="020B0400000000000000" pitchFamily="34" charset="-128"/>
                <a:cs typeface="Yu Gothic"/>
              </a:rPr>
              <a:t>O</a:t>
            </a:r>
            <a:r>
              <a:rPr lang="en" altLang="ja-JP" sz="2800" b="1" dirty="0">
                <a:latin typeface="Yu Gothic" panose="020B0400000000000000" pitchFamily="34" charset="-128"/>
                <a:ea typeface="Yu Gothic" panose="020B0400000000000000" pitchFamily="34" charset="-128"/>
                <a:cs typeface="Yu Gothic"/>
              </a:rPr>
              <a:t>TTA </a:t>
            </a:r>
            <a:r>
              <a:rPr lang="ja-JP" altLang="en-US" sz="2800" b="1">
                <a:latin typeface="Yu Gothic" panose="020B0400000000000000" pitchFamily="34" charset="-128"/>
                <a:ea typeface="Yu Gothic" panose="020B0400000000000000" pitchFamily="34" charset="-128"/>
                <a:cs typeface="Yu Gothic"/>
              </a:rPr>
              <a:t>は分布ずれに追従できる一方，誤更新で性能劣化を招く</a:t>
            </a:r>
            <a:endParaRPr lang="en-US" sz="2600" b="1" dirty="0">
              <a:latin typeface="Yu Gothic" panose="020B0400000000000000" pitchFamily="34" charset="-128"/>
              <a:ea typeface="Yu Gothic" panose="020B0400000000000000" pitchFamily="34" charset="-128"/>
              <a:cs typeface="Yu Gothic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4185458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buFont typeface="Wingdings" pitchFamily="2" charset="2"/>
              <a:buChar char="n"/>
            </a:pPr>
            <a:r>
              <a:rPr lang="en" altLang="ja-JP" sz="2000" dirty="0"/>
              <a:t>OTTA </a:t>
            </a:r>
            <a:r>
              <a:rPr lang="ja-JP" altLang="en-US" sz="2000"/>
              <a:t>は正解ラベルなしでモデル状態を更新する</a:t>
            </a:r>
            <a:endParaRPr lang="en-US" altLang="ja-JP" sz="2000" dirty="0"/>
          </a:p>
          <a:p>
            <a:endParaRPr lang="ja-JP" altLang="en-US" sz="1850">
              <a:latin typeface="Yu Gothic"/>
              <a:ea typeface="Yu Gothic"/>
              <a:cs typeface="Yu Gothic"/>
            </a:endParaRPr>
          </a:p>
          <a:p>
            <a:pPr marL="342900" indent="-342900">
              <a:buFont typeface="Wingdings" pitchFamily="2" charset="2"/>
              <a:buChar char="n"/>
            </a:pPr>
            <a:r>
              <a:rPr lang="ja-JP" altLang="en-US" sz="1850">
                <a:latin typeface="Yu Gothic"/>
                <a:ea typeface="Yu Gothic"/>
                <a:cs typeface="Yu Gothic"/>
              </a:rPr>
              <a:t>分布ずれに追従できる一方，</a:t>
            </a:r>
            <a:r>
              <a:rPr lang="en-US" sz="1850" dirty="0">
                <a:latin typeface="Yu Gothic"/>
                <a:ea typeface="Yu Gothic"/>
                <a:cs typeface="Yu Gothic"/>
              </a:rPr>
              <a:t>EEG </a:t>
            </a:r>
            <a:r>
              <a:rPr lang="ja-JP" altLang="en-US" sz="1850">
                <a:latin typeface="Yu Gothic"/>
                <a:ea typeface="Yu Gothic"/>
                <a:cs typeface="Yu Gothic"/>
              </a:rPr>
              <a:t>では高信頼予測が正解とは限らない</a:t>
            </a:r>
            <a:endParaRPr lang="en-US" altLang="ja-JP" sz="1850" dirty="0">
              <a:latin typeface="Yu Gothic"/>
              <a:ea typeface="Yu Gothic"/>
              <a:cs typeface="Yu Gothic"/>
            </a:endParaRPr>
          </a:p>
          <a:p>
            <a:pPr marL="342900" indent="-342900">
              <a:buFont typeface="Wingdings" pitchFamily="2" charset="2"/>
              <a:buChar char="n"/>
            </a:pPr>
            <a:endParaRPr lang="ja-JP" altLang="en-US" sz="1850">
              <a:latin typeface="Yu Gothic"/>
              <a:ea typeface="Yu Gothic"/>
              <a:cs typeface="Yu Gothic"/>
            </a:endParaRPr>
          </a:p>
          <a:p>
            <a:pPr marL="342900" indent="-342900">
              <a:buFont typeface="Wingdings" pitchFamily="2" charset="2"/>
              <a:buChar char="n"/>
            </a:pPr>
            <a:r>
              <a:rPr lang="ja-JP" altLang="en-US" sz="1850">
                <a:latin typeface="Yu Gothic"/>
                <a:ea typeface="Yu Gothic"/>
                <a:cs typeface="Yu Gothic"/>
              </a:rPr>
              <a:t>誤った </a:t>
            </a:r>
            <a:r>
              <a:rPr lang="en-US" sz="1850" dirty="0">
                <a:latin typeface="Yu Gothic"/>
                <a:ea typeface="Yu Gothic"/>
                <a:cs typeface="Yu Gothic"/>
              </a:rPr>
              <a:t>trial </a:t>
            </a:r>
            <a:r>
              <a:rPr lang="ja-JP" altLang="en-US" sz="1850">
                <a:latin typeface="Yu Gothic"/>
                <a:ea typeface="Yu Gothic"/>
                <a:cs typeface="Yu Gothic"/>
              </a:rPr>
              <a:t>で更新するとモデル状態が汚染され，以降の </a:t>
            </a:r>
            <a:r>
              <a:rPr lang="en-US" sz="1850" dirty="0">
                <a:latin typeface="Yu Gothic"/>
                <a:ea typeface="Yu Gothic"/>
                <a:cs typeface="Yu Gothic"/>
              </a:rPr>
              <a:t>trial </a:t>
            </a:r>
            <a:r>
              <a:rPr lang="ja-JP" altLang="en-US" sz="1850">
                <a:latin typeface="Yu Gothic"/>
                <a:ea typeface="Yu Gothic"/>
                <a:cs typeface="Yu Gothic"/>
              </a:rPr>
              <a:t>でも誤分類が起きやすくなる</a:t>
            </a:r>
            <a:endParaRPr lang="en-US" sz="1850" dirty="0">
              <a:latin typeface="Yu Gothic"/>
              <a:ea typeface="Yu Gothic"/>
              <a:cs typeface="Yu Gothic"/>
            </a:endParaRPr>
          </a:p>
        </p:txBody>
      </p:sp>
      <p:pic>
        <p:nvPicPr>
          <p:cNvPr id="5" name="Image 0" descr="/mnt/data/ChatGPT Image 2026年5月8日 16_35_58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575" y="1489168"/>
            <a:ext cx="6812280" cy="38339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752228"/>
            <a:ext cx="10561320" cy="329184"/>
          </a:xfrm>
          <a:prstGeom prst="rect">
            <a:avLst/>
          </a:prstGeom>
          <a:solidFill>
            <a:srgbClr val="F3F8FF"/>
          </a:solidFill>
          <a:ln w="7620">
            <a:solidFill>
              <a:srgbClr val="0E55B5">
                <a:alpha val="80000"/>
              </a:srgbClr>
            </a:solidFill>
          </a:ln>
        </p:spPr>
        <p:txBody>
          <a:bodyPr wrap="square" lIns="762" tIns="1524" rIns="1524" bIns="762" rtlCol="0" anchor="ctr">
            <a:normAutofit/>
          </a:bodyPr>
          <a:lstStyle/>
          <a:p>
            <a:pPr marL="0" indent="0" algn="ctr">
              <a:buNone/>
            </a:pPr>
            <a:r>
              <a:rPr lang="en" altLang="ja-JP" sz="1600" b="1" dirty="0">
                <a:latin typeface="Yu Gothic" panose="020B0400000000000000" pitchFamily="34" charset="-128"/>
                <a:ea typeface="Yu Gothic" panose="020B0400000000000000" pitchFamily="34" charset="-128"/>
                <a:cs typeface="Yu Gothic"/>
              </a:rPr>
              <a:t>OTTA </a:t>
            </a:r>
            <a:r>
              <a:rPr lang="ja-JP" altLang="en-US" sz="1600" b="1">
                <a:latin typeface="Yu Gothic" panose="020B0400000000000000" pitchFamily="34" charset="-128"/>
                <a:ea typeface="Yu Gothic" panose="020B0400000000000000" pitchFamily="34" charset="-128"/>
                <a:cs typeface="Yu Gothic"/>
              </a:rPr>
              <a:t>では「更新するか」だけでなく，「</a:t>
            </a:r>
            <a:r>
              <a:rPr lang="ja-JP" altLang="en-US" sz="1600" b="1">
                <a:latin typeface="Yu Gothic" panose="020B0400000000000000" pitchFamily="34" charset="-128"/>
                <a:ea typeface="Yu Gothic" panose="020B0400000000000000" pitchFamily="34" charset="-128"/>
              </a:rPr>
              <a:t>どの状態を</a:t>
            </a:r>
            <a:r>
              <a:rPr lang="ja-JP" altLang="en-US" sz="1600" b="1">
                <a:latin typeface="Yu Gothic" panose="020B0400000000000000" pitchFamily="34" charset="-128"/>
                <a:ea typeface="Yu Gothic" panose="020B0400000000000000" pitchFamily="34" charset="-128"/>
                <a:cs typeface="Yu Gothic"/>
              </a:rPr>
              <a:t>・いつ更新するか」を安全に決める必要がある。</a:t>
            </a:r>
            <a:endParaRPr lang="en-US" sz="1550" b="1" dirty="0">
              <a:latin typeface="Yu Gothic" panose="020B0400000000000000" pitchFamily="34" charset="-128"/>
              <a:ea typeface="Yu Gothic" panose="020B0400000000000000" pitchFamily="34" charset="-128"/>
              <a:cs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C8194E-4F71-41C7-5AC3-7931FB876136}"/>
              </a:ext>
            </a:extLst>
          </p:cNvPr>
          <p:cNvSpPr txBox="1"/>
          <p:nvPr/>
        </p:nvSpPr>
        <p:spPr>
          <a:xfrm>
            <a:off x="6954749" y="5138446"/>
            <a:ext cx="3204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. Negative Transfer</a:t>
            </a:r>
            <a:r>
              <a:rPr kumimoji="1" lang="ja-JP" altLang="en-US"/>
              <a:t>の流れ</a:t>
            </a:r>
            <a:r>
              <a:rPr kumimoji="1" lang="en-US" altLang="ja-JP" dirty="0"/>
              <a:t> </a:t>
            </a:r>
            <a:endParaRPr kumimoji="1" lang="ja-JP" alt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A4A3722-15CA-5B7D-5250-824A19E78978}"/>
              </a:ext>
            </a:extLst>
          </p:cNvPr>
          <p:cNvSpPr txBox="1"/>
          <p:nvPr/>
        </p:nvSpPr>
        <p:spPr>
          <a:xfrm>
            <a:off x="11048695" y="6500997"/>
            <a:ext cx="640080" cy="165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4</a:t>
            </a:r>
            <a:endParaRPr sz="1000" b="0" i="0" dirty="0">
              <a:solidFill>
                <a:srgbClr val="9AA0A4"/>
              </a:solidFill>
              <a:latin typeface="Yu Gothic"/>
              <a:ea typeface="Yu Gothic"/>
              <a:cs typeface="Yu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前回の提案：一律適応をやめ「フィルタ → 適応」の2段構え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85855" cy="201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8585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脳波には「直せるズレ」と「直せない弱い信号」が混在。見分けて処理を分ける。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4892040" cy="1822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■  </a:t>
            </a:r>
            <a:r>
              <a:rPr sz="15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2段構え：① </a:t>
            </a:r>
            <a:r>
              <a:rPr sz="150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軽量フィルタで弱い脳波を先に弾く</a:t>
            </a:r>
            <a:r>
              <a:rPr sz="15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 → ② </a:t>
            </a:r>
            <a:r>
              <a:rPr sz="150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通過分だけ適応</a:t>
            </a:r>
            <a:r>
              <a:rPr sz="15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(DA-DC)。</a:t>
            </a:r>
          </a:p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■  </a:t>
            </a:r>
            <a:r>
              <a:rPr sz="150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フィルタの核</a:t>
            </a:r>
            <a:r>
              <a:rPr sz="15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＝「</a:t>
            </a:r>
            <a:r>
              <a:rPr sz="150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分かれ具合」で信頼度を正解なしに測る（小規模で相関</a:t>
            </a:r>
            <a:r>
              <a:rPr sz="15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150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2a +0.78 / 2b +0.82</a:t>
            </a:r>
            <a:r>
              <a:rPr sz="15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）。</a:t>
            </a:r>
          </a:p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■  </a:t>
            </a:r>
            <a:r>
              <a:rPr sz="150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残した</a:t>
            </a:r>
            <a:r>
              <a:rPr lang="ja-JP" altLang="en-US"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検証課題</a:t>
            </a:r>
            <a:r>
              <a:rPr sz="15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＝</a:t>
            </a:r>
            <a:r>
              <a:rPr sz="150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新規性の2条件：(1) </a:t>
            </a:r>
            <a:r>
              <a:rPr sz="1500" b="1" i="0" dirty="0" err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既存指標より当たる</a:t>
            </a:r>
            <a:r>
              <a:rPr sz="150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、(2) </a:t>
            </a:r>
            <a:r>
              <a:rPr sz="1500" b="1" i="0" dirty="0" err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軽量</a:t>
            </a:r>
            <a:r>
              <a:rPr sz="15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。← </a:t>
            </a:r>
            <a:r>
              <a:rPr sz="150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今回の検証対象</a:t>
            </a:r>
            <a:r>
              <a:rPr sz="15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pic>
        <p:nvPicPr>
          <p:cNvPr id="6" name="Picture 5" descr="prev_2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227808"/>
            <a:ext cx="6126480" cy="30881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7840" y="5407431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77"/>
                </a:solidFill>
                <a:latin typeface="Yu Gothic"/>
                <a:ea typeface="Yu Gothic"/>
                <a:cs typeface="Yu Gothic"/>
              </a:rPr>
              <a:t>前回提案：弱信号を弾いてから適応（前回スライドより再掲）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500997"/>
            <a:ext cx="640080" cy="165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5</a:t>
            </a:r>
            <a:endParaRPr sz="1000" b="0" i="0" dirty="0">
              <a:solidFill>
                <a:srgbClr val="9AA0A4"/>
              </a:solidFill>
              <a:latin typeface="Yu Gothic"/>
              <a:ea typeface="Yu Gothic"/>
              <a:cs typeface="Yu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849598"/>
            <a:ext cx="10454335" cy="445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2. </a:t>
            </a:r>
            <a:r>
              <a:rPr sz="2700" b="1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前回フィルタを</a:t>
            </a:r>
            <a:r>
              <a:rPr lang="ja-JP" altLang="en-US" sz="2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他のデータ</a:t>
            </a:r>
            <a:r>
              <a:rPr sz="2700" b="1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で検証する</a:t>
            </a:r>
            <a:endParaRPr sz="2700" b="1" i="0" dirty="0">
              <a:solidFill>
                <a:srgbClr val="1A1A1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8680" y="3419856"/>
            <a:ext cx="10454335" cy="2194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48695" y="6500997"/>
            <a:ext cx="640080" cy="165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6</a:t>
            </a:r>
            <a:endParaRPr sz="1000" b="0" i="0" dirty="0">
              <a:solidFill>
                <a:srgbClr val="9AA0A4"/>
              </a:solidFill>
              <a:latin typeface="Yu Gothic"/>
              <a:ea typeface="Yu Gothic"/>
              <a:cs typeface="Yu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42077"/>
            <a:ext cx="11185855" cy="3960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今回やったこと：62人の縦断データで</a:t>
            </a:r>
            <a:r>
              <a:rPr lang="ja-JP" altLang="en-US" sz="2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、検証課題を厳密に</a:t>
            </a:r>
            <a:r>
              <a:rPr sz="2400" b="1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検証した</a:t>
            </a:r>
            <a:endParaRPr sz="2400" b="1" i="0" dirty="0">
              <a:solidFill>
                <a:srgbClr val="1A1A1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85855" cy="201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8585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小規模(9人)から、被験者62人×最大11セッションの縦断データへ。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9人</a:t>
            </a:r>
            <a:r>
              <a:rPr sz="18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　―縦断―→　</a:t>
            </a:r>
            <a:r>
              <a:rPr sz="40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62人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83384"/>
            <a:ext cx="10545775" cy="1434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sz="160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データ変更：</a:t>
            </a:r>
            <a:r>
              <a:rPr sz="16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9人 → </a:t>
            </a:r>
            <a:r>
              <a:rPr sz="160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62人</a:t>
            </a:r>
            <a:r>
              <a:rPr sz="16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の縦断（</a:t>
            </a:r>
            <a:r>
              <a:rPr sz="1600" b="1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Stieger2021</a:t>
            </a:r>
            <a:r>
              <a:rPr sz="16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・最大11セッション・</a:t>
            </a:r>
            <a:r>
              <a:rPr sz="160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約200試行</a:t>
            </a:r>
            <a:r>
              <a:rPr sz="16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/</a:t>
            </a:r>
            <a:r>
              <a:rPr sz="160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セッション</a:t>
            </a:r>
            <a:r>
              <a:rPr sz="16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）</a:t>
            </a:r>
            <a:endParaRPr lang="en-US" sz="1600" b="0" i="0" dirty="0">
              <a:solidFill>
                <a:srgbClr val="1A1A1A"/>
              </a:solidFill>
              <a:latin typeface="Yu Gothic"/>
              <a:ea typeface="Yu Gothic"/>
              <a:cs typeface="Yu Gothic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ja-JP" altLang="en-US"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タスク</a:t>
            </a:r>
            <a:r>
              <a:rPr lang="ja-JP" altLang="en-US"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：運動想起</a:t>
            </a:r>
            <a:r>
              <a:rPr lang="en" sz="16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BCI。</a:t>
            </a:r>
            <a:r>
              <a:rPr lang="ja-JP" altLang="en-US"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今回使ったのは左手</a:t>
            </a:r>
            <a:r>
              <a:rPr lang="en-US" altLang="ja-JP" sz="16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/</a:t>
            </a:r>
            <a:r>
              <a:rPr lang="ja-JP" altLang="en-US"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右手の</a:t>
            </a:r>
            <a:r>
              <a:rPr lang="en-US" altLang="ja-JP" sz="16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2</a:t>
            </a:r>
            <a:r>
              <a:rPr lang="ja-JP" altLang="en-US"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クラス</a:t>
            </a:r>
            <a:endParaRPr sz="1600" b="0" i="0" dirty="0">
              <a:solidFill>
                <a:srgbClr val="1A1A1A"/>
              </a:solidFill>
              <a:latin typeface="Yu Gothic"/>
              <a:ea typeface="Yu Gothic"/>
              <a:cs typeface="Yu Gothic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sz="1600" b="1" i="0" dirty="0" err="1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設定：</a:t>
            </a:r>
            <a:r>
              <a:rPr sz="160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凍結デコーダ</a:t>
            </a:r>
            <a:r>
              <a:rPr sz="16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(Riemann-tangent-LDA) + </a:t>
            </a:r>
            <a:r>
              <a:rPr sz="160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EA適応</a:t>
            </a:r>
            <a:r>
              <a:rPr sz="160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 ＝「</a:t>
            </a:r>
            <a:r>
              <a:rPr sz="160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適応すべきか」を見分ける</a:t>
            </a:r>
            <a:endParaRPr sz="1600" b="0" i="0" dirty="0">
              <a:solidFill>
                <a:srgbClr val="1A1A1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8695" y="6500997"/>
            <a:ext cx="640080" cy="165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7</a:t>
            </a:r>
            <a:endParaRPr sz="1000" b="0" i="0" dirty="0">
              <a:solidFill>
                <a:srgbClr val="9AA0A4"/>
              </a:solidFill>
              <a:latin typeface="Yu Gothic"/>
              <a:ea typeface="Yu Gothic"/>
              <a:cs typeface="Yu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適応の現実：効くが、16%のセッションを壊す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85855" cy="201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858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ja-JP" altLang="en-US" sz="1600" b="1">
                <a:effectLst/>
              </a:rPr>
              <a:t>全体の平均は上がる。でもセッション単位で見ると一部は下がる。</a:t>
            </a:r>
            <a:endParaRPr lang="ja-JP" altLang="en-US" sz="1600">
              <a:effectLst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897880" cy="867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■  </a:t>
            </a:r>
            <a:r>
              <a:rPr sz="145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平均</a:t>
            </a:r>
            <a:r>
              <a:rPr sz="145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145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+7.8pp</a:t>
            </a:r>
            <a:r>
              <a:rPr sz="145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・76%のセッションが改善</a:t>
            </a:r>
          </a:p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■  </a:t>
            </a:r>
            <a:r>
              <a:rPr sz="1450" b="1" i="0" dirty="0">
                <a:solidFill>
                  <a:srgbClr val="C0392B"/>
                </a:solidFill>
                <a:latin typeface="Yu Gothic"/>
                <a:ea typeface="Yu Gothic"/>
                <a:cs typeface="Yu Gothic"/>
              </a:rPr>
              <a:t>16%(87)</a:t>
            </a:r>
            <a:r>
              <a:rPr sz="1450" b="0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が悪化・最悪</a:t>
            </a:r>
            <a:r>
              <a:rPr sz="1450" b="0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1450" b="1" i="0" dirty="0">
                <a:solidFill>
                  <a:srgbClr val="C0392B"/>
                </a:solidFill>
                <a:latin typeface="Yu Gothic"/>
                <a:ea typeface="Yu Gothic"/>
                <a:cs typeface="Yu Gothic"/>
              </a:rPr>
              <a:t>−12pp</a:t>
            </a:r>
          </a:p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endParaRPr sz="1450" b="0" i="0" dirty="0">
              <a:solidFill>
                <a:srgbClr val="1A1A1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29400" y="1810512"/>
            <a:ext cx="5074920" cy="960120"/>
          </a:xfrm>
          <a:prstGeom prst="roundRect">
            <a:avLst/>
          </a:prstGeom>
          <a:solidFill>
            <a:srgbClr val="E9EFF6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93992" y="1810512"/>
            <a:ext cx="47457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平均は取れている。問題は壊れる16%＝安全性</a:t>
            </a:r>
          </a:p>
        </p:txBody>
      </p:sp>
      <p:pic>
        <p:nvPicPr>
          <p:cNvPr id="8" name="Picture 7" descr="260622_F1_sp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25" y="3035808"/>
            <a:ext cx="6093069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44768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77"/>
                </a:solidFill>
                <a:latin typeface="Yu Gothic"/>
                <a:ea typeface="Yu Gothic"/>
                <a:cs typeface="Yu Gothic"/>
              </a:rPr>
              <a:t>被験者×セッションの適応効果（赤=悪化）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42077"/>
            <a:ext cx="11185855" cy="3960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検証</a:t>
            </a:r>
            <a:r>
              <a:rPr lang="en-US" altLang="ja-JP" sz="2400" b="1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①</a:t>
            </a:r>
            <a:r>
              <a:rPr sz="2400" b="1" i="0" dirty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：</a:t>
            </a:r>
            <a:r>
              <a:rPr sz="2400" b="1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正解なしのフィルタも、実データでは弱い</a:t>
            </a:r>
            <a:endParaRPr sz="2400" b="1" i="0" dirty="0">
              <a:solidFill>
                <a:srgbClr val="1A1A1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978408"/>
            <a:ext cx="11185855" cy="201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8585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前回0.78だった「分かれ具合」も、62人では判別力 0.61。融合しても0.66。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41605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■  </a:t>
            </a:r>
            <a:r>
              <a:rPr sz="145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前回の核（正解なし指標）を 87 有害セッションで評価</a:t>
            </a:r>
          </a:p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■  </a:t>
            </a:r>
            <a:r>
              <a:rPr sz="145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単一指標は全て 0.62 未満／6指標を融合しても </a:t>
            </a:r>
            <a:r>
              <a:rPr sz="1450" b="1" i="0">
                <a:solidFill>
                  <a:srgbClr val="C0392B"/>
                </a:solidFill>
                <a:latin typeface="Yu Gothic"/>
                <a:ea typeface="Yu Gothic"/>
                <a:cs typeface="Yu Gothic"/>
              </a:rPr>
              <a:t>0.66</a:t>
            </a:r>
          </a:p>
          <a:p>
            <a:pPr marL="310896" indent="-310896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■  </a:t>
            </a:r>
            <a:r>
              <a:rPr sz="145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前回の高相関(</a:t>
            </a:r>
            <a:r>
              <a:rPr sz="1450" b="1" i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2a +0.78</a:t>
            </a:r>
            <a:r>
              <a:rPr sz="145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)は小規模・極端条件に依存</a:t>
            </a:r>
          </a:p>
        </p:txBody>
      </p:sp>
      <p:pic>
        <p:nvPicPr>
          <p:cNvPr id="6" name="Picture 5" descr="260622_G_labelfree_au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087" y="1874519"/>
            <a:ext cx="6086184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92040" y="4919472"/>
            <a:ext cx="6812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77"/>
                </a:solidFill>
                <a:latin typeface="Yu Gothic"/>
                <a:ea typeface="Yu Gothic"/>
                <a:cs typeface="Yu Gothic"/>
              </a:rPr>
              <a:t>正解なし指標の判別力は実用水準0.65に届かない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5285232"/>
            <a:ext cx="6812280" cy="868680"/>
          </a:xfrm>
          <a:prstGeom prst="roundRect">
            <a:avLst/>
          </a:prstGeom>
          <a:solidFill>
            <a:srgbClr val="E9EFF6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56631" y="5285232"/>
            <a:ext cx="6483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正解なしでも安く見分けるのは実データでは不十分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500997"/>
            <a:ext cx="640080" cy="165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9</a:t>
            </a:r>
            <a:endParaRPr sz="1000" b="0" i="0" dirty="0">
              <a:solidFill>
                <a:srgbClr val="9AA0A4"/>
              </a:solidFill>
              <a:latin typeface="Yu Gothic"/>
              <a:ea typeface="Yu Gothic"/>
              <a:cs typeface="Yu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849598"/>
            <a:ext cx="10454335" cy="445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3</a:t>
            </a:r>
            <a:r>
              <a:rPr sz="2700" b="1" i="0" dirty="0">
                <a:solidFill>
                  <a:srgbClr val="1F3A5F"/>
                </a:solidFill>
                <a:latin typeface="Yu Gothic"/>
                <a:ea typeface="Yu Gothic"/>
                <a:cs typeface="Yu Gothic"/>
              </a:rPr>
              <a:t>. </a:t>
            </a:r>
            <a:r>
              <a:rPr sz="2700" b="1" i="0" dirty="0" err="1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今後の方針</a:t>
            </a:r>
            <a:endParaRPr sz="2700" b="1" i="0" dirty="0">
              <a:solidFill>
                <a:srgbClr val="1A1A1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8680" y="3419856"/>
            <a:ext cx="10454335" cy="2194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48695" y="6500997"/>
            <a:ext cx="640080" cy="165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10</a:t>
            </a:r>
            <a:endParaRPr sz="1000" b="0" i="0" dirty="0">
              <a:solidFill>
                <a:srgbClr val="9AA0A4"/>
              </a:solidFill>
              <a:latin typeface="Yu Gothic"/>
              <a:ea typeface="Yu Gothic"/>
              <a:cs typeface="Yu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42E8E-7017-6EE6-381C-67399877A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8E89F7-E955-F3E6-FB50-57C80BAFAABA}"/>
              </a:ext>
            </a:extLst>
          </p:cNvPr>
          <p:cNvSpPr txBox="1"/>
          <p:nvPr/>
        </p:nvSpPr>
        <p:spPr>
          <a:xfrm>
            <a:off x="502920" y="365760"/>
            <a:ext cx="111858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"/>
                <a:ea typeface="Yu Gothic"/>
                <a:cs typeface="Yu Gothic"/>
              </a:rPr>
              <a:t>今後：決定の単位を「セッション」から「被験者」へ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C2217C-7020-D8BB-81ED-41C666E78B6D}"/>
              </a:ext>
            </a:extLst>
          </p:cNvPr>
          <p:cNvSpPr/>
          <p:nvPr/>
        </p:nvSpPr>
        <p:spPr>
          <a:xfrm>
            <a:off x="502920" y="978408"/>
            <a:ext cx="11185855" cy="201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44CD7-01F5-0E02-60CD-6898598464B8}"/>
              </a:ext>
            </a:extLst>
          </p:cNvPr>
          <p:cNvSpPr txBox="1"/>
          <p:nvPr/>
        </p:nvSpPr>
        <p:spPr>
          <a:xfrm>
            <a:off x="502920" y="1097280"/>
            <a:ext cx="11185855" cy="801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Yu Gothic"/>
                <a:ea typeface="Yu Gothic"/>
                <a:cs typeface="Yu Gothic"/>
              </a:rPr>
              <a:t>見分けられる時は見分ける。見分けられない時も、被害を最小限に抑える。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600" b="1" i="0" u="none" strike="noStrike" kern="1200" cap="none" spc="0" normalizeH="0" baseline="0" noProof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Yu Gothic"/>
              <a:ea typeface="Yu Gothic"/>
              <a:cs typeface="Yu Gothic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Yu Gothic"/>
              <a:ea typeface="Yu Gothic"/>
              <a:cs typeface="Yu Gothic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ECB66-9334-732C-F50F-D5299A80A5E6}"/>
              </a:ext>
            </a:extLst>
          </p:cNvPr>
          <p:cNvSpPr txBox="1"/>
          <p:nvPr/>
        </p:nvSpPr>
        <p:spPr>
          <a:xfrm>
            <a:off x="502920" y="1871472"/>
            <a:ext cx="7726679" cy="481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marR="0" lvl="0" indent="-310896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ja-JP" altLang="en-US" sz="135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"/>
                <a:ea typeface="Yu Gothic"/>
                <a:cs typeface="Yu Gothic"/>
              </a:rPr>
              <a:t>見分けられる時：手がかりを増やし、危ない適応をできるだけ事前に弾く。</a:t>
            </a:r>
          </a:p>
          <a:p>
            <a:pPr marL="310896" marR="0" lvl="0" indent="-310896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ja-JP" altLang="en-US" sz="135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Yu Gothic"/>
                <a:ea typeface="Yu Gothic"/>
                <a:cs typeface="Yu Gothic"/>
              </a:rPr>
              <a:t>見分けられない時：適応の強さを抑え、外しても被害を最小限に留める。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Yu Gothic"/>
              <a:ea typeface="Yu Gothic"/>
              <a:cs typeface="Yu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F286E-014F-13E7-16A8-F84D427CA0A2}"/>
              </a:ext>
            </a:extLst>
          </p:cNvPr>
          <p:cNvSpPr txBox="1"/>
          <p:nvPr/>
        </p:nvSpPr>
        <p:spPr>
          <a:xfrm>
            <a:off x="11048695" y="6500997"/>
            <a:ext cx="640080" cy="165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9AA0A4"/>
                </a:solidFill>
                <a:latin typeface="Yu Gothic"/>
                <a:ea typeface="Yu Gothic"/>
                <a:cs typeface="Yu Gothic"/>
              </a:rPr>
              <a:t>11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9AA0A4"/>
              </a:solidFill>
              <a:effectLst/>
              <a:uLnTx/>
              <a:uFillTx/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756407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744</Words>
  <Application>Microsoft Macintosh PowerPoint</Application>
  <PresentationFormat>ワイド画面</PresentationFormat>
  <Paragraphs>78</Paragraphs>
  <Slides>12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</vt:lpstr>
      <vt:lpstr>Yu Gothic</vt:lpstr>
      <vt:lpstr>Arial</vt:lpstr>
      <vt:lpstr>Calibri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生川 聖也</cp:lastModifiedBy>
  <cp:revision>10</cp:revision>
  <dcterms:created xsi:type="dcterms:W3CDTF">2013-01-27T09:14:16Z</dcterms:created>
  <dcterms:modified xsi:type="dcterms:W3CDTF">2026-06-22T04:36:37Z</dcterms:modified>
  <cp:category/>
</cp:coreProperties>
</file>